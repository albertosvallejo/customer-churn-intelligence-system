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>
          <p15:clr>
            <a:srgbClr val="747775"/>
          </p15:clr>
        </p15:guide>
        <p15:guide id="2" pos="5468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jZ3q1y5SCSqF78vcKrySjq2D6W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/>
        <p:guide pos="54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526ec4746293037f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h526ec4746293037f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h526ec4746293037f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/logo.png" id="13" name="Google Shape;1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06640" y="347472"/>
            <a:ext cx="1280160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0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VivaMarket Churn Intelligence System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8"/>
          <p:cNvSpPr txBox="1"/>
          <p:nvPr>
            <p:ph type="title"/>
          </p:nvPr>
        </p:nvSpPr>
        <p:spPr>
          <a:xfrm>
            <a:off x="457200" y="566928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  <a:defRPr b="1" i="0" spc="0" sz="24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/logo.png"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11480"/>
            <a:ext cx="173736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 txBox="1"/>
          <p:nvPr/>
        </p:nvSpPr>
        <p:spPr>
          <a:xfrm>
            <a:off x="457200" y="12344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1" i="0" lang="en-US" spc="30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BUSINESS PORTFOLIO</a:t>
            </a:r>
            <a:endParaRPr b="0" i="0" spc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457200" y="1508760"/>
            <a:ext cx="4663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3600"/>
              <a:buFont typeface="Calibri"/>
              <a:buNone/>
            </a:pPr>
            <a:r>
              <a:rPr b="1" i="0" lang="en-US" spc="0" sz="36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VivaMarket Churn Intelligence System</a:t>
            </a:r>
            <a:endParaRPr b="0" i="0" spc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457200" y="278892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600"/>
              <a:buFont typeface="Calibri"/>
              <a:buNone/>
            </a:pPr>
            <a:r>
              <a:rPr b="0" i="0" lang="en-US" spc="0" sz="16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From churn risk to governed, evidence-backed retention learning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457200" y="41605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governed learning loop for continuously improving retention decisions.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486400" y="2011680"/>
            <a:ext cx="3200400" cy="2377440"/>
          </a:xfrm>
          <a:prstGeom prst="roundRect">
            <a:avLst>
              <a:gd fmla="val 3077" name="adj"/>
            </a:avLst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5715000" y="224028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D3EA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BBD3EA"/>
                </a:solidFill>
                <a:latin typeface="Calibri"/>
                <a:ea typeface="Calibri"/>
                <a:cs typeface="Calibri"/>
                <a:sym typeface="Calibri"/>
              </a:rPr>
              <a:t>BUSINESS MESSAGE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5715000" y="2560320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pc="0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Prediction alone is not enough. VivaMarket connects action, measurement and learning.</a:t>
            </a:r>
            <a:endParaRPr b="0" i="0" spc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486400" y="411480"/>
            <a:ext cx="15546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5623560" y="548640"/>
            <a:ext cx="128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8040"/>
              </a:buClr>
              <a:buSzPts val="3400"/>
              <a:buFont typeface="Calibri"/>
              <a:buNone/>
            </a:pPr>
            <a:r>
              <a:rPr b="1" i="0" lang="en-US" spc="0" sz="3400" u="none" cap="none" strike="noStrike">
                <a:solidFill>
                  <a:srgbClr val="208040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 b="0" i="0" spc="0" sz="34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5623560" y="1097280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PRECISION@TOP 5%</a:t>
            </a:r>
            <a:endParaRPr b="0" i="0" spc="0" sz="10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5623560" y="132588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Who is at risk and why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132320" y="411480"/>
            <a:ext cx="15546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7269480" y="548640"/>
            <a:ext cx="132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3000"/>
              <a:buFont typeface="Calibri"/>
              <a:buNone/>
            </a:pPr>
            <a:r>
              <a:rPr b="1" i="0" lang="en-US" spc="0" sz="30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0.8016</a:t>
            </a:r>
            <a:endParaRPr b="0" i="0" spc="0" sz="30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7269480" y="1097280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ROC AUC</a:t>
            </a:r>
            <a:endParaRPr b="0" i="0" spc="0" sz="10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7269480" y="1325880"/>
            <a:ext cx="132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Ranking evidence for retention review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57200" y="3611880"/>
            <a:ext cx="1600200" cy="329100"/>
          </a:xfrm>
          <a:prstGeom prst="roundRect">
            <a:avLst>
              <a:gd fmla="val 50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85216" y="3721608"/>
            <a:ext cx="109800" cy="109800"/>
          </a:xfrm>
          <a:prstGeom prst="ellipse">
            <a:avLst/>
          </a:prstGeom>
          <a:solidFill>
            <a:srgbClr val="C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731520" y="3611880"/>
            <a:ext cx="1280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070"/>
              </a:buClr>
              <a:buSzPts val="1100"/>
              <a:buFont typeface="Calibri"/>
              <a:buNone/>
            </a:pPr>
            <a:r>
              <a:rPr b="1" i="0" lang="en-US" spc="0" sz="11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DETECT &amp; EXPLAIN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2148840" y="3611880"/>
            <a:ext cx="1417200" cy="329100"/>
          </a:xfrm>
          <a:prstGeom prst="roundRect">
            <a:avLst>
              <a:gd fmla="val 50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2276856" y="3721608"/>
            <a:ext cx="109800" cy="109800"/>
          </a:xfrm>
          <a:prstGeom prst="ellipse">
            <a:avLst/>
          </a:prstGeom>
          <a:solidFill>
            <a:srgbClr val="005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2423160" y="3611880"/>
            <a:ext cx="1097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070"/>
              </a:buClr>
              <a:buSzPts val="1100"/>
              <a:buFont typeface="Calibri"/>
              <a:buNone/>
            </a:pPr>
            <a:r>
              <a:rPr b="1" i="0" lang="en-US" spc="0" sz="11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ACT &amp; MEASURE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3657600" y="3611880"/>
            <a:ext cx="1554600" cy="329100"/>
          </a:xfrm>
          <a:prstGeom prst="roundRect">
            <a:avLst>
              <a:gd fmla="val 50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3785616" y="3721608"/>
            <a:ext cx="109800" cy="109800"/>
          </a:xfrm>
          <a:prstGeom prst="ellipse">
            <a:avLst/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3931920" y="3611880"/>
            <a:ext cx="1234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070"/>
              </a:buClr>
              <a:buSzPts val="1100"/>
              <a:buFont typeface="Calibri"/>
              <a:buNone/>
            </a:pPr>
            <a:r>
              <a:rPr b="1" i="0" lang="en-US" spc="0" sz="11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REACT &amp; IMPROVE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457200" y="566928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Who should we retain, what should we do, did it work — and what should we try next?</a:t>
            </a:r>
            <a:endParaRPr sz="2400"/>
          </a:p>
        </p:txBody>
      </p:sp>
      <p:sp>
        <p:nvSpPr>
          <p:cNvPr id="54" name="Google Shape;54;p2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THE BUSINESS CHALLENGE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>
            <p:ph idx="4294967295" type="sldNum"/>
          </p:nvPr>
        </p:nvSpPr>
        <p:spPr>
          <a:xfrm>
            <a:off x="7772400" y="4670481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57200" y="2470809"/>
            <a:ext cx="1886100" cy="1051500"/>
          </a:xfrm>
          <a:prstGeom prst="roundRect">
            <a:avLst>
              <a:gd fmla="val 6957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104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798117" y="2626568"/>
            <a:ext cx="1666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PRIORITIZE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788673" y="2860955"/>
            <a:ext cx="1546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pc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needs attention?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2343150" y="2470809"/>
            <a:ext cx="274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04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571750" y="2470809"/>
            <a:ext cx="1886100" cy="1051500"/>
          </a:xfrm>
          <a:prstGeom prst="roundRect">
            <a:avLst>
              <a:gd fmla="val 6957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104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2871978" y="2620597"/>
            <a:ext cx="1666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b="0" i="0" spc="0" sz="1000" u="none" cap="none" strike="noStrike">
              <a:solidFill>
                <a:srgbClr val="104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2866528" y="2849404"/>
            <a:ext cx="1267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should we do?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457700" y="2470809"/>
            <a:ext cx="274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04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686300" y="2470809"/>
            <a:ext cx="1886100" cy="1051500"/>
          </a:xfrm>
          <a:prstGeom prst="roundRect">
            <a:avLst>
              <a:gd fmla="val 6957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104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4969037" y="2617320"/>
            <a:ext cx="1666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MEASURE</a:t>
            </a:r>
            <a:endParaRPr b="0" i="0" spc="0" sz="1000" u="none" cap="none" strike="noStrike">
              <a:solidFill>
                <a:srgbClr val="104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4933137" y="2879502"/>
            <a:ext cx="1666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Did it work?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6572250" y="2470809"/>
            <a:ext cx="274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04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800850" y="2470809"/>
            <a:ext cx="1886100" cy="1051500"/>
          </a:xfrm>
          <a:prstGeom prst="roundRect">
            <a:avLst>
              <a:gd fmla="val 6957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104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7121677" y="2617329"/>
            <a:ext cx="1410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804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0" i="0" spc="0" sz="1000" u="none" cap="none" strike="noStrike">
              <a:solidFill>
                <a:srgbClr val="104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7121677" y="2873359"/>
            <a:ext cx="1410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should we try next?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480010" y="1655545"/>
            <a:ext cx="7863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WHY MARKETPLACE CHURN IS HARDE</a:t>
            </a:r>
            <a:r>
              <a:rPr b="1" i="0" lang="en-US" spc="200" sz="14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pc="0" sz="1400" u="none" cap="none" strike="noStrike">
              <a:solidFill>
                <a:srgbClr val="104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480000" y="1926865"/>
            <a:ext cx="78639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No explicit cancellation event · Irregular cadence · One-time buyers distort the signal</a:t>
            </a:r>
            <a:endParaRPr b="1" i="0" spc="0" sz="1400" u="none" cap="none" strike="noStrike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480000" y="3731247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600"/>
              <a:buFont typeface="Calibri"/>
              <a:buNone/>
            </a:pPr>
            <a:r>
              <a:rPr b="1" i="0" lang="en-US" spc="0" sz="15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Retention is not a one-off prediction problem. It is a repeated decision-and-learning problem</a:t>
            </a:r>
            <a:r>
              <a:rPr b="1" i="0" lang="en-US" spc="0" sz="15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pc="0" sz="1500" u="none" cap="none" strike="noStrike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469258" y="4276186"/>
            <a:ext cx="7461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C00"/>
              </a:buClr>
              <a:buSzPts val="12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Example: a customer who has not bought in 60 days — gone, or just an occasional buyer?</a:t>
            </a:r>
            <a:endParaRPr b="1" i="0" spc="0" sz="1400" u="none" cap="none" strike="noStrike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22206" y="2653514"/>
            <a:ext cx="109800" cy="109800"/>
          </a:xfrm>
          <a:prstGeom prst="ellipse">
            <a:avLst/>
          </a:prstGeom>
          <a:solidFill>
            <a:srgbClr val="C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2676859" y="2649233"/>
            <a:ext cx="109800" cy="109800"/>
          </a:xfrm>
          <a:prstGeom prst="ellipse">
            <a:avLst/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783244" y="2642787"/>
            <a:ext cx="109800" cy="109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938616" y="2637344"/>
            <a:ext cx="109800" cy="10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GOVERNED LEARNING LOOP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3703320"/>
            <a:ext cx="8229600" cy="640200"/>
          </a:xfrm>
          <a:prstGeom prst="roundRect">
            <a:avLst>
              <a:gd fmla="val 11429" name="adj"/>
            </a:avLst>
          </a:prstGeom>
          <a:solidFill>
            <a:srgbClr val="E3F1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640080" y="3703320"/>
            <a:ext cx="5120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Automation keeps the loop moving. Governance controls what becomes a business decision.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5852160" y="3703320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35"/>
              </a:buClr>
              <a:buSzPts val="1150"/>
              <a:buFont typeface="Calibri"/>
              <a:buNone/>
            </a:pPr>
            <a:r>
              <a:rPr b="0" i="0" lang="en-US" spc="0" sz="1150" u="none" cap="none" strike="noStrike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Review proposals · approve tests · control decisions</a:t>
            </a:r>
            <a:endParaRPr b="0" i="0" spc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>
            <p:ph type="title"/>
          </p:nvPr>
        </p:nvSpPr>
        <p:spPr>
          <a:xfrm>
            <a:off x="457200" y="566928"/>
            <a:ext cx="6766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From churn risk to continuous, governed retention learning</a:t>
            </a:r>
            <a:endParaRPr sz="2400"/>
          </a:p>
        </p:txBody>
      </p:sp>
      <p:sp>
        <p:nvSpPr>
          <p:cNvPr id="90" name="Google Shape;90;p3"/>
          <p:cNvSpPr/>
          <p:nvPr/>
        </p:nvSpPr>
        <p:spPr>
          <a:xfrm>
            <a:off x="4692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88129" y="1995900"/>
            <a:ext cx="109800" cy="109800"/>
          </a:xfrm>
          <a:prstGeom prst="ellipse">
            <a:avLst/>
          </a:prstGeom>
          <a:solidFill>
            <a:srgbClr val="C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7618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6633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Who is at risk?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8789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997829" y="1995900"/>
            <a:ext cx="109800" cy="109800"/>
          </a:xfrm>
          <a:prstGeom prst="ellipse">
            <a:avLst/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21715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20730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2886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407529" y="1995900"/>
            <a:ext cx="109800" cy="109800"/>
          </a:xfrm>
          <a:prstGeom prst="ellipse">
            <a:avLst/>
          </a:prstGeom>
          <a:solidFill>
            <a:srgbClr val="005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35812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34827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treatment?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6983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817229" y="1995900"/>
            <a:ext cx="109800" cy="109800"/>
          </a:xfrm>
          <a:prstGeom prst="ellipse">
            <a:avLst/>
          </a:prstGeom>
          <a:solidFill>
            <a:srgbClr val="E0B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9909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MEASURE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8924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KPI + guardrails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1080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226929" y="1995900"/>
            <a:ext cx="109800" cy="109800"/>
          </a:xfrm>
          <a:prstGeom prst="ellipse">
            <a:avLst/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4006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63021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next?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75177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7636629" y="1995900"/>
            <a:ext cx="109800" cy="109800"/>
          </a:xfrm>
          <a:prstGeom prst="ellipse">
            <a:avLst/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78103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77118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Preserve decisions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457211" y="1289521"/>
            <a:ext cx="8229600" cy="38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804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HUMAN GOVERNANCE FRAMES THE LOOP</a:t>
            </a:r>
            <a:endParaRPr b="0" i="0" spc="0" sz="1000" u="none" cap="none" strike="noStrike">
              <a:solidFill>
                <a:srgbClr val="104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646016" y="1730613"/>
            <a:ext cx="274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055716" y="1730613"/>
            <a:ext cx="274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4465416" y="1730613"/>
            <a:ext cx="274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875116" y="1730613"/>
            <a:ext cx="274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7284816" y="1730613"/>
            <a:ext cx="274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526ec4746293037f_0_46"/>
          <p:cNvSpPr txBox="1"/>
          <p:nvPr>
            <p:ph type="title"/>
          </p:nvPr>
        </p:nvSpPr>
        <p:spPr>
          <a:xfrm>
            <a:off x="480088" y="530478"/>
            <a:ext cx="6766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One customer, followed through the loop</a:t>
            </a:r>
            <a:endParaRPr sz="2400"/>
          </a:p>
        </p:txBody>
      </p:sp>
      <p:sp>
        <p:nvSpPr>
          <p:cNvPr id="126" name="Google Shape;126;h526ec4746293037f_0_46"/>
          <p:cNvSpPr txBox="1"/>
          <p:nvPr/>
        </p:nvSpPr>
        <p:spPr>
          <a:xfrm>
            <a:off x="457200" y="329184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GOVERNED LEARNING LOOP · EXAMPLE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h526ec4746293037f_0_46"/>
          <p:cNvSpPr/>
          <p:nvPr/>
        </p:nvSpPr>
        <p:spPr>
          <a:xfrm>
            <a:off x="4692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h526ec4746293037f_0_46"/>
          <p:cNvSpPr/>
          <p:nvPr/>
        </p:nvSpPr>
        <p:spPr>
          <a:xfrm>
            <a:off x="588129" y="1995900"/>
            <a:ext cx="109800" cy="109800"/>
          </a:xfrm>
          <a:prstGeom prst="ellipse">
            <a:avLst/>
          </a:prstGeom>
          <a:solidFill>
            <a:srgbClr val="C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h526ec4746293037f_0_46"/>
          <p:cNvSpPr txBox="1"/>
          <p:nvPr/>
        </p:nvSpPr>
        <p:spPr>
          <a:xfrm>
            <a:off x="7618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h526ec4746293037f_0_46"/>
          <p:cNvSpPr txBox="1"/>
          <p:nvPr/>
        </p:nvSpPr>
        <p:spPr>
          <a:xfrm>
            <a:off x="6633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Who is at risk?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h526ec4746293037f_0_46"/>
          <p:cNvSpPr/>
          <p:nvPr/>
        </p:nvSpPr>
        <p:spPr>
          <a:xfrm>
            <a:off x="18789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h526ec4746293037f_0_46"/>
          <p:cNvSpPr/>
          <p:nvPr/>
        </p:nvSpPr>
        <p:spPr>
          <a:xfrm>
            <a:off x="1997829" y="1995900"/>
            <a:ext cx="109800" cy="109800"/>
          </a:xfrm>
          <a:prstGeom prst="ellipse">
            <a:avLst/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h526ec4746293037f_0_46"/>
          <p:cNvSpPr txBox="1"/>
          <p:nvPr/>
        </p:nvSpPr>
        <p:spPr>
          <a:xfrm>
            <a:off x="21715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h526ec4746293037f_0_46"/>
          <p:cNvSpPr txBox="1"/>
          <p:nvPr/>
        </p:nvSpPr>
        <p:spPr>
          <a:xfrm>
            <a:off x="20730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h526ec4746293037f_0_46"/>
          <p:cNvSpPr/>
          <p:nvPr/>
        </p:nvSpPr>
        <p:spPr>
          <a:xfrm>
            <a:off x="32886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h526ec4746293037f_0_46"/>
          <p:cNvSpPr/>
          <p:nvPr/>
        </p:nvSpPr>
        <p:spPr>
          <a:xfrm>
            <a:off x="3407529" y="1995900"/>
            <a:ext cx="109800" cy="109800"/>
          </a:xfrm>
          <a:prstGeom prst="ellipse">
            <a:avLst/>
          </a:prstGeom>
          <a:solidFill>
            <a:srgbClr val="005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h526ec4746293037f_0_46"/>
          <p:cNvSpPr txBox="1"/>
          <p:nvPr/>
        </p:nvSpPr>
        <p:spPr>
          <a:xfrm>
            <a:off x="35812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h526ec4746293037f_0_46"/>
          <p:cNvSpPr txBox="1"/>
          <p:nvPr/>
        </p:nvSpPr>
        <p:spPr>
          <a:xfrm>
            <a:off x="34827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treatment?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h526ec4746293037f_0_46"/>
          <p:cNvSpPr/>
          <p:nvPr/>
        </p:nvSpPr>
        <p:spPr>
          <a:xfrm>
            <a:off x="46983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h526ec4746293037f_0_46"/>
          <p:cNvSpPr/>
          <p:nvPr/>
        </p:nvSpPr>
        <p:spPr>
          <a:xfrm>
            <a:off x="4817229" y="1995900"/>
            <a:ext cx="109800" cy="109800"/>
          </a:xfrm>
          <a:prstGeom prst="ellipse">
            <a:avLst/>
          </a:prstGeom>
          <a:solidFill>
            <a:srgbClr val="E0B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h526ec4746293037f_0_46"/>
          <p:cNvSpPr txBox="1"/>
          <p:nvPr/>
        </p:nvSpPr>
        <p:spPr>
          <a:xfrm>
            <a:off x="49909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MEASURE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h526ec4746293037f_0_46"/>
          <p:cNvSpPr txBox="1"/>
          <p:nvPr/>
        </p:nvSpPr>
        <p:spPr>
          <a:xfrm>
            <a:off x="48924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KPI + guardrails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h526ec4746293037f_0_46"/>
          <p:cNvSpPr/>
          <p:nvPr/>
        </p:nvSpPr>
        <p:spPr>
          <a:xfrm>
            <a:off x="61080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h526ec4746293037f_0_46"/>
          <p:cNvSpPr/>
          <p:nvPr/>
        </p:nvSpPr>
        <p:spPr>
          <a:xfrm>
            <a:off x="6226929" y="1995900"/>
            <a:ext cx="109800" cy="109800"/>
          </a:xfrm>
          <a:prstGeom prst="ellipse">
            <a:avLst/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h526ec4746293037f_0_46"/>
          <p:cNvSpPr txBox="1"/>
          <p:nvPr/>
        </p:nvSpPr>
        <p:spPr>
          <a:xfrm>
            <a:off x="64006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h526ec4746293037f_0_46"/>
          <p:cNvSpPr txBox="1"/>
          <p:nvPr/>
        </p:nvSpPr>
        <p:spPr>
          <a:xfrm>
            <a:off x="63021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 next?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h526ec4746293037f_0_46"/>
          <p:cNvSpPr/>
          <p:nvPr/>
        </p:nvSpPr>
        <p:spPr>
          <a:xfrm>
            <a:off x="7517757" y="1732827"/>
            <a:ext cx="1181100" cy="13320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h526ec4746293037f_0_46"/>
          <p:cNvSpPr/>
          <p:nvPr/>
        </p:nvSpPr>
        <p:spPr>
          <a:xfrm>
            <a:off x="7636629" y="1995900"/>
            <a:ext cx="109800" cy="109800"/>
          </a:xfrm>
          <a:prstGeom prst="ellipse">
            <a:avLst/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h526ec4746293037f_0_46"/>
          <p:cNvSpPr txBox="1"/>
          <p:nvPr/>
        </p:nvSpPr>
        <p:spPr>
          <a:xfrm>
            <a:off x="7810365" y="1976057"/>
            <a:ext cx="815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h526ec4746293037f_0_46"/>
          <p:cNvSpPr txBox="1"/>
          <p:nvPr/>
        </p:nvSpPr>
        <p:spPr>
          <a:xfrm>
            <a:off x="7711884" y="2257549"/>
            <a:ext cx="961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Preserve decisions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h526ec4746293037f_0_46"/>
          <p:cNvSpPr txBox="1"/>
          <p:nvPr>
            <p:ph idx="4294967295" type="sldNum"/>
          </p:nvPr>
        </p:nvSpPr>
        <p:spPr>
          <a:xfrm>
            <a:off x="7772400" y="4730766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h526ec4746293037f_0_46"/>
          <p:cNvSpPr txBox="1"/>
          <p:nvPr/>
        </p:nvSpPr>
        <p:spPr>
          <a:xfrm>
            <a:off x="457211" y="1289521"/>
            <a:ext cx="8229600" cy="38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804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HUMAN GOVERNANCE FRAMES THE LOOP</a:t>
            </a:r>
            <a:endParaRPr b="0" i="0" spc="0" sz="1000" u="none" cap="none" strike="noStrike">
              <a:solidFill>
                <a:srgbClr val="104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h526ec4746293037f_0_46"/>
          <p:cNvSpPr/>
          <p:nvPr/>
        </p:nvSpPr>
        <p:spPr>
          <a:xfrm>
            <a:off x="457200" y="3193846"/>
            <a:ext cx="1181100" cy="10515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h526ec4746293037f_0_46"/>
          <p:cNvSpPr txBox="1"/>
          <p:nvPr/>
        </p:nvSpPr>
        <p:spPr>
          <a:xfrm>
            <a:off x="566928" y="3193846"/>
            <a:ext cx="96164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80"/>
              <a:buFont typeface="Calibri"/>
              <a:buNone/>
            </a:pPr>
            <a:r>
              <a:rPr b="0" i="0" lang="en-US" spc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ranked in the top 5% by risk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h526ec4746293037f_0_46"/>
          <p:cNvSpPr txBox="1"/>
          <p:nvPr/>
        </p:nvSpPr>
        <p:spPr>
          <a:xfrm>
            <a:off x="1638300" y="3193846"/>
            <a:ext cx="274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h526ec4746293037f_0_46"/>
          <p:cNvSpPr/>
          <p:nvPr/>
        </p:nvSpPr>
        <p:spPr>
          <a:xfrm>
            <a:off x="1866900" y="3193846"/>
            <a:ext cx="1181100" cy="10515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h526ec4746293037f_0_46"/>
          <p:cNvSpPr txBox="1"/>
          <p:nvPr/>
        </p:nvSpPr>
        <p:spPr>
          <a:xfrm>
            <a:off x="1976628" y="3193846"/>
            <a:ext cx="96164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80"/>
              <a:buFont typeface="Calibri"/>
              <a:buNone/>
            </a:pPr>
            <a:r>
              <a:rPr b="0" i="0" lang="en-US" spc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Behavioral drivers shown (SHAP)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h526ec4746293037f_0_46"/>
          <p:cNvSpPr txBox="1"/>
          <p:nvPr/>
        </p:nvSpPr>
        <p:spPr>
          <a:xfrm>
            <a:off x="3048000" y="3193846"/>
            <a:ext cx="274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h526ec4746293037f_0_46"/>
          <p:cNvSpPr/>
          <p:nvPr/>
        </p:nvSpPr>
        <p:spPr>
          <a:xfrm>
            <a:off x="3276600" y="3193846"/>
            <a:ext cx="1181100" cy="10515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h526ec4746293037f_0_46"/>
          <p:cNvSpPr txBox="1"/>
          <p:nvPr/>
        </p:nvSpPr>
        <p:spPr>
          <a:xfrm>
            <a:off x="3386328" y="3193846"/>
            <a:ext cx="96164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80"/>
              <a:buFont typeface="Calibri"/>
              <a:buNone/>
            </a:pPr>
            <a:r>
              <a:rPr b="0" i="0" lang="en-US" spc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notification with a 20% coupon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h526ec4746293037f_0_46"/>
          <p:cNvSpPr txBox="1"/>
          <p:nvPr/>
        </p:nvSpPr>
        <p:spPr>
          <a:xfrm>
            <a:off x="4457700" y="3193846"/>
            <a:ext cx="274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h526ec4746293037f_0_46"/>
          <p:cNvSpPr/>
          <p:nvPr/>
        </p:nvSpPr>
        <p:spPr>
          <a:xfrm>
            <a:off x="4686300" y="3193846"/>
            <a:ext cx="1181100" cy="10515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h526ec4746293037f_0_46"/>
          <p:cNvSpPr txBox="1"/>
          <p:nvPr/>
        </p:nvSpPr>
        <p:spPr>
          <a:xfrm>
            <a:off x="4796028" y="3193846"/>
            <a:ext cx="96164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80"/>
              <a:buFont typeface="Calibri"/>
              <a:buNone/>
            </a:pPr>
            <a:r>
              <a:rPr b="0" i="0" lang="en-US" spc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 recovery +1.7%, no guardrail alarms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h526ec4746293037f_0_46"/>
          <p:cNvSpPr txBox="1"/>
          <p:nvPr/>
        </p:nvSpPr>
        <p:spPr>
          <a:xfrm>
            <a:off x="5867400" y="3193846"/>
            <a:ext cx="274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h526ec4746293037f_0_46"/>
          <p:cNvSpPr/>
          <p:nvPr/>
        </p:nvSpPr>
        <p:spPr>
          <a:xfrm>
            <a:off x="6096000" y="3193846"/>
            <a:ext cx="1181100" cy="10515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h526ec4746293037f_0_46"/>
          <p:cNvSpPr txBox="1"/>
          <p:nvPr/>
        </p:nvSpPr>
        <p:spPr>
          <a:xfrm>
            <a:off x="6205728" y="3193846"/>
            <a:ext cx="96164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80"/>
              <a:buFont typeface="Calibri"/>
              <a:buNone/>
            </a:pPr>
            <a:r>
              <a:rPr b="0" i="0" lang="en-US" spc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idea: exit-intent discount popup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h526ec4746293037f_0_46"/>
          <p:cNvSpPr txBox="1"/>
          <p:nvPr/>
        </p:nvSpPr>
        <p:spPr>
          <a:xfrm>
            <a:off x="7277100" y="3193846"/>
            <a:ext cx="274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h526ec4746293037f_0_46"/>
          <p:cNvSpPr/>
          <p:nvPr/>
        </p:nvSpPr>
        <p:spPr>
          <a:xfrm>
            <a:off x="7505700" y="3193846"/>
            <a:ext cx="1181100" cy="10515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h526ec4746293037f_0_46"/>
          <p:cNvSpPr txBox="1"/>
          <p:nvPr/>
        </p:nvSpPr>
        <p:spPr>
          <a:xfrm>
            <a:off x="7615428" y="3193846"/>
            <a:ext cx="96164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80"/>
              <a:buFont typeface="Calibri"/>
              <a:buNone/>
            </a:pPr>
            <a:r>
              <a:rPr b="0" i="0" lang="en-US" spc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and rationale saved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h526ec4746293037f_0_46"/>
          <p:cNvSpPr txBox="1"/>
          <p:nvPr/>
        </p:nvSpPr>
        <p:spPr>
          <a:xfrm>
            <a:off x="1646016" y="1730613"/>
            <a:ext cx="274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h526ec4746293037f_0_46"/>
          <p:cNvSpPr txBox="1"/>
          <p:nvPr/>
        </p:nvSpPr>
        <p:spPr>
          <a:xfrm>
            <a:off x="3055716" y="1730613"/>
            <a:ext cx="274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h526ec4746293037f_0_46"/>
          <p:cNvSpPr txBox="1"/>
          <p:nvPr/>
        </p:nvSpPr>
        <p:spPr>
          <a:xfrm>
            <a:off x="4465416" y="1730613"/>
            <a:ext cx="274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h526ec4746293037f_0_46"/>
          <p:cNvSpPr txBox="1"/>
          <p:nvPr/>
        </p:nvSpPr>
        <p:spPr>
          <a:xfrm>
            <a:off x="5875116" y="1730613"/>
            <a:ext cx="274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h526ec4746293037f_0_46"/>
          <p:cNvSpPr txBox="1"/>
          <p:nvPr/>
        </p:nvSpPr>
        <p:spPr>
          <a:xfrm>
            <a:off x="7284816" y="1730613"/>
            <a:ext cx="2742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526ec4746293037f_0_46"/>
          <p:cNvSpPr txBox="1"/>
          <p:nvPr/>
        </p:nvSpPr>
        <p:spPr>
          <a:xfrm>
            <a:off x="457200" y="4288536"/>
            <a:ext cx="11795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Model ranking</a:t>
            </a:r>
            <a:endParaRPr/>
          </a:p>
        </p:txBody>
      </p:sp>
      <p:sp>
        <p:nvSpPr>
          <p:cNvPr id="176" name="Google Shape;176;h526ec4746293037f_0_46"/>
          <p:cNvSpPr txBox="1"/>
          <p:nvPr/>
        </p:nvSpPr>
        <p:spPr>
          <a:xfrm>
            <a:off x="1865376" y="4288536"/>
            <a:ext cx="11795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SHAP drivers</a:t>
            </a:r>
            <a:endParaRPr/>
          </a:p>
        </p:txBody>
      </p:sp>
      <p:sp>
        <p:nvSpPr>
          <p:cNvPr id="177" name="Google Shape;177;h526ec4746293037f_0_46"/>
          <p:cNvSpPr txBox="1"/>
          <p:nvPr/>
        </p:nvSpPr>
        <p:spPr>
          <a:xfrm>
            <a:off x="3273552" y="4288536"/>
            <a:ext cx="11795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n8n workflow</a:t>
            </a:r>
            <a:endParaRPr/>
          </a:p>
        </p:txBody>
      </p:sp>
      <p:sp>
        <p:nvSpPr>
          <p:cNvPr id="178" name="Google Shape;178;h526ec4746293037f_0_46"/>
          <p:cNvSpPr txBox="1"/>
          <p:nvPr/>
        </p:nvSpPr>
        <p:spPr>
          <a:xfrm>
            <a:off x="4681728" y="4288536"/>
            <a:ext cx="11795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Dashboard · synthetic</a:t>
            </a:r>
            <a:endParaRPr/>
          </a:p>
        </p:txBody>
      </p:sp>
      <p:sp>
        <p:nvSpPr>
          <p:cNvPr id="179" name="Google Shape;179;h526ec4746293037f_0_46"/>
          <p:cNvSpPr txBox="1"/>
          <p:nvPr/>
        </p:nvSpPr>
        <p:spPr>
          <a:xfrm>
            <a:off x="6099048" y="4288536"/>
            <a:ext cx="11795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New Actions queue</a:t>
            </a:r>
            <a:endParaRPr/>
          </a:p>
        </p:txBody>
      </p:sp>
      <p:sp>
        <p:nvSpPr>
          <p:cNvPr id="180" name="Google Shape;180;h526ec4746293037f_0_46"/>
          <p:cNvSpPr txBox="1"/>
          <p:nvPr/>
        </p:nvSpPr>
        <p:spPr>
          <a:xfrm>
            <a:off x="7507224" y="4288536"/>
            <a:ext cx="11795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Audit trail</a:t>
            </a:r>
            <a:endParaRPr/>
          </a:p>
        </p:txBody>
      </p:sp>
      <p:sp>
        <p:nvSpPr>
          <p:cNvPr id="181" name="Google Shape;181;h526ec4746293037f_0_46"/>
          <p:cNvSpPr txBox="1"/>
          <p:nvPr/>
        </p:nvSpPr>
        <p:spPr>
          <a:xfrm>
            <a:off x="480000" y="4547005"/>
            <a:ext cx="8229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pc="0" sz="9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Illustrative: the coupon comes from the n8n workflow, the +1.7% from the synthetic dashboard (different cases).</a:t>
            </a:r>
            <a:endParaRPr sz="1300">
              <a:solidFill>
                <a:srgbClr val="9AA5B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/>
          <p:nvPr>
            <p:ph type="title"/>
          </p:nvPr>
        </p:nvSpPr>
        <p:spPr>
          <a:xfrm>
            <a:off x="457200" y="566928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The model concentrates retention attention on the highest-risk customers</a:t>
            </a:r>
            <a:endParaRPr sz="2400"/>
          </a:p>
        </p:txBody>
      </p:sp>
      <p:sp>
        <p:nvSpPr>
          <p:cNvPr id="188" name="Google Shape;188;p5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CUSTOMER PRIORITIZATION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57200" y="1417320"/>
            <a:ext cx="2560320" cy="1325880"/>
          </a:xfrm>
          <a:prstGeom prst="roundRect">
            <a:avLst>
              <a:gd fmla="val 5517" name="adj"/>
            </a:avLst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621792" y="15087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pc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1.0000</a:t>
            </a:r>
            <a:endParaRPr b="0" i="0" spc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621792" y="2029968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PRECISION@TOP 5%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621792" y="2249424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Highest-risk segment for retention review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3291840" y="1417320"/>
            <a:ext cx="2560320" cy="1325880"/>
          </a:xfrm>
          <a:prstGeom prst="roundRect">
            <a:avLst>
              <a:gd fmla="val 5517" name="adj"/>
            </a:avLst>
          </a:prstGeom>
          <a:solidFill>
            <a:srgbClr val="005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3456432" y="15087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pc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0.8016</a:t>
            </a:r>
            <a:endParaRPr b="0" i="0" spc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3456432" y="202996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ROC AUC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3456432" y="2249424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Ranking quality across the modeled population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6126480" y="1417320"/>
            <a:ext cx="2560320" cy="1325880"/>
          </a:xfrm>
          <a:prstGeom prst="roundRect">
            <a:avLst>
              <a:gd fmla="val 5517" name="adj"/>
            </a:avLst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6291072" y="150876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pc="0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≈0.9970</a:t>
            </a:r>
            <a:endParaRPr b="0" i="0" spc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6291072" y="202996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PRECISION@TOP 10%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6291072" y="2249424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Concentrated risk beyond the top band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57200" y="2926080"/>
            <a:ext cx="4023300" cy="10515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621792" y="299923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Business interpretation</a:t>
            </a:r>
            <a:endParaRPr b="0" i="0" spc="0" sz="13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621792" y="3255264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High precision at the top supports targeted review. The score prioritizes capacity; it is not a literally calibrated production probability.</a:t>
            </a:r>
            <a:endParaRPr b="0" i="0" spc="0" sz="12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663440" y="2926080"/>
            <a:ext cx="4023300" cy="1051500"/>
          </a:xfrm>
          <a:prstGeom prst="roundRect">
            <a:avLst>
              <a:gd fmla="val 6957" name="adj"/>
            </a:avLst>
          </a:prstGeom>
          <a:solidFill>
            <a:srgbClr val="FFF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4828032" y="299923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C00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7A5C00"/>
                </a:solidFill>
                <a:latin typeface="Calibri"/>
                <a:ea typeface="Calibri"/>
                <a:cs typeface="Calibri"/>
                <a:sym typeface="Calibri"/>
              </a:rPr>
              <a:t>Calibration judgment</a:t>
            </a:r>
            <a:endParaRPr b="0" i="0" spc="0" sz="13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4828032" y="3255264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Isotonic average gap 0.0082 · Isotonic ROC AUC 0.7919. Better calibration, modest ranking trade-off.</a:t>
            </a:r>
            <a:endParaRPr b="0" i="0" spc="0" sz="12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500"/>
              <a:buFont typeface="Calibri"/>
              <a:buNone/>
            </a:pPr>
            <a:r>
              <a:rPr b="1" i="0" lang="en-US" spc="0" sz="15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The ranking helps focus limited retention capacity where modeled risk is most concentrated.</a:t>
            </a:r>
            <a:endParaRPr b="0" i="0" spc="0" sz="15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"/>
          <p:cNvSpPr txBox="1"/>
          <p:nvPr>
            <p:ph type="title"/>
          </p:nvPr>
        </p:nvSpPr>
        <p:spPr>
          <a:xfrm>
            <a:off x="457200" y="566928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Reading Precision@Top 5% with 1,000 customers</a:t>
            </a:r>
            <a:endParaRPr sz="2400"/>
          </a:p>
        </p:txBody>
      </p:sp>
      <p:sp>
        <p:nvSpPr>
          <p:cNvPr id="214" name="Google Shape;214;p6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CUSTOMER PRIORITIZATION · EXAMPLE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57200" y="1417320"/>
            <a:ext cx="8229600" cy="109740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640080" y="1508760"/>
            <a:ext cx="7863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HOW TO READ IT · ILLUSTRATIVE EXAMPLE, NOT A PROJECT DATA POINT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640080" y="178308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30"/>
              <a:buFont typeface="Calibri"/>
              <a:buNone/>
            </a:pPr>
            <a:r>
              <a:rPr b="0" i="0" lang="en-US" spc="0" sz="143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Take 1,000 customers. The top 5% by modeled risk is 50 customers. With Precision@Top 5% = 1.00, all 50 are real churn cases in the evaluation.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457200" y="274320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1,000 CUSTOMERS RANKED BY MODELED RISK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57225" y="3001952"/>
            <a:ext cx="8229600" cy="271500"/>
          </a:xfrm>
          <a:prstGeom prst="roundRect">
            <a:avLst>
              <a:gd fmla="val 8000" name="adj"/>
            </a:avLst>
          </a:prstGeom>
          <a:solidFill>
            <a:srgbClr val="F0F0F0"/>
          </a:solidFill>
          <a:ln cap="flat" cmpd="sng" w="9525">
            <a:solidFill>
              <a:srgbClr val="D5DAE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57200" y="2999227"/>
            <a:ext cx="411600" cy="271500"/>
          </a:xfrm>
          <a:prstGeom prst="rect">
            <a:avLst/>
          </a:prstGeom>
          <a:solidFill>
            <a:srgbClr val="208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457200" y="3381726"/>
            <a:ext cx="292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208040"/>
                </a:solidFill>
                <a:latin typeface="Calibri"/>
                <a:ea typeface="Calibri"/>
                <a:cs typeface="Calibri"/>
                <a:sym typeface="Calibri"/>
              </a:rPr>
              <a:t>Top 5% = 50 customers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5029200" y="3381726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pc="0" sz="14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Remaining 950 customers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fmla="val 8000" name="adj"/>
            </a:avLst>
          </a:prstGeom>
          <a:solidFill>
            <a:srgbClr val="208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640080" y="3931920"/>
            <a:ext cx="7863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pc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 of 50 are real churn cases  →  Precision@Top 5% = 1.00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EXPLAIN, ACT AND FEED THE LOOP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457200" y="566928"/>
            <a:ext cx="6766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Risk becomes an explainable action — and a new piece of evidence</a:t>
            </a:r>
            <a:endParaRPr b="1" i="0" spc="0" sz="2400" u="none" cap="none" strike="noStrike">
              <a:solidFill>
                <a:srgbClr val="005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 txBox="1"/>
          <p:nvPr/>
        </p:nvSpPr>
        <p:spPr>
          <a:xfrm>
            <a:off x="457200" y="141732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b="0" i="0" lang="en-US" spc="0" sz="14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The system does not stop at a score. It turns risk into a reviewable action that can be measured and learned from.</a:t>
            </a:r>
            <a:endParaRPr b="0" i="0" spc="0" sz="14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57200" y="2103120"/>
            <a:ext cx="1851600" cy="1783200"/>
          </a:xfrm>
          <a:prstGeom prst="roundRect">
            <a:avLst>
              <a:gd fmla="val 410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705642" y="2231136"/>
            <a:ext cx="163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101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pc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566928" y="2487168"/>
            <a:ext cx="1632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1" i="0" lang="en-US" spc="0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High-risk customer</a:t>
            </a:r>
            <a:endParaRPr b="0" i="0" spc="0" sz="15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566928" y="3090672"/>
            <a:ext cx="1632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Prioritized for retention attention</a:t>
            </a:r>
            <a:endParaRPr b="0" i="0" spc="0" sz="12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2308860" y="2103120"/>
            <a:ext cx="2742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2583180" y="2103120"/>
            <a:ext cx="1851600" cy="1783200"/>
          </a:xfrm>
          <a:prstGeom prst="roundRect">
            <a:avLst>
              <a:gd fmla="val 410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2859364" y="2231136"/>
            <a:ext cx="163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 b="0" i="0" spc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2692908" y="2487168"/>
            <a:ext cx="1632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1" i="0" lang="en-US" spc="0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Behavioral drivers</a:t>
            </a:r>
            <a:endParaRPr b="0" i="0" spc="0" sz="15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 txBox="1"/>
          <p:nvPr/>
        </p:nvSpPr>
        <p:spPr>
          <a:xfrm>
            <a:off x="2692908" y="3090672"/>
            <a:ext cx="1632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Explainable reasons behind the ranking</a:t>
            </a:r>
            <a:endParaRPr b="0" i="0" spc="0" sz="12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4434840" y="2103120"/>
            <a:ext cx="2742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709160" y="2103120"/>
            <a:ext cx="1851600" cy="1783200"/>
          </a:xfrm>
          <a:prstGeom prst="roundRect">
            <a:avLst>
              <a:gd fmla="val 410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4985344" y="2231136"/>
            <a:ext cx="163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pc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4818888" y="2487168"/>
            <a:ext cx="1632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1" i="0" lang="en-US" spc="0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Treatment + channel + incentive</a:t>
            </a:r>
            <a:endParaRPr b="0" i="0" spc="0" sz="15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4818888" y="3300984"/>
            <a:ext cx="1632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 concrete, reviewable response</a:t>
            </a:r>
            <a:endParaRPr b="0" i="0" spc="0" sz="12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6560820" y="2103120"/>
            <a:ext cx="2742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835140" y="2103120"/>
            <a:ext cx="1851600" cy="1783200"/>
          </a:xfrm>
          <a:prstGeom prst="roundRect">
            <a:avLst>
              <a:gd fmla="val 410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7120572" y="2231136"/>
            <a:ext cx="163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804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PROPOSAL</a:t>
            </a:r>
            <a:endParaRPr b="0" i="0" spc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6944868" y="2487168"/>
            <a:ext cx="1632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1" i="0" lang="en-US" spc="0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Testable retention action</a:t>
            </a:r>
            <a:endParaRPr b="0" i="0" spc="0" sz="15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6944868" y="3300984"/>
            <a:ext cx="1632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Ready for review or experimentation</a:t>
            </a:r>
            <a:endParaRPr b="0" i="0" spc="0" sz="12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57200" y="4023360"/>
            <a:ext cx="8229600" cy="548700"/>
          </a:xfrm>
          <a:prstGeom prst="roundRect">
            <a:avLst>
              <a:gd fmla="val 13333" name="adj"/>
            </a:avLst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457200" y="402336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pc="0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action creates evidence for the next decision cycle.</a:t>
            </a:r>
            <a:endParaRPr b="0" i="0" spc="0" sz="15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38978" y="2265116"/>
            <a:ext cx="109800" cy="109800"/>
          </a:xfrm>
          <a:prstGeom prst="ellipse">
            <a:avLst/>
          </a:prstGeom>
          <a:solidFill>
            <a:srgbClr val="C0101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2695354" y="2260835"/>
            <a:ext cx="109800" cy="109800"/>
          </a:xfrm>
          <a:prstGeom prst="ellipse">
            <a:avLst/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820235" y="2254389"/>
            <a:ext cx="109800" cy="109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929368" y="2248946"/>
            <a:ext cx="109800" cy="109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"/>
          <p:cNvSpPr txBox="1"/>
          <p:nvPr>
            <p:ph type="title"/>
          </p:nvPr>
        </p:nvSpPr>
        <p:spPr>
          <a:xfrm>
            <a:off x="457200" y="566928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Example: the daily n8n workflow, from risk to push</a:t>
            </a:r>
            <a:endParaRPr sz="2400"/>
          </a:p>
        </p:txBody>
      </p:sp>
      <p:sp>
        <p:nvSpPr>
          <p:cNvPr id="265" name="Google Shape;265;p8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EXPLAIN, ACT AND FEED THE LOOP · EXAMPLE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57175" y="1473647"/>
            <a:ext cx="4663500" cy="279120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685775" y="2046988"/>
            <a:ext cx="3726300" cy="18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62"/>
              <a:buFont typeface="Calibri"/>
              <a:buChar char="•"/>
            </a:pPr>
            <a:r>
              <a:rPr b="0" i="0" lang="en-US" spc="0" sz="1462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Every day at 02:00 the highest-risk customers are read and explained with SHAP</a:t>
            </a:r>
            <a:br>
              <a:rPr b="0" i="0" lang="en-US" spc="0" sz="1462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pc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462"/>
              <a:buFont typeface="Calibri"/>
              <a:buChar char="•"/>
            </a:pPr>
            <a:r>
              <a:rPr b="0" i="0" lang="en-US" spc="0" sz="1462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HIGH or MEDIUM risk tier → a 20% discount coupon is generated, valid for 7 days</a:t>
            </a:r>
            <a:br>
              <a:rPr b="0" i="0" lang="en-US" spc="0" sz="1462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pc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F2937"/>
              </a:buClr>
              <a:buSzPts val="1462"/>
              <a:buFont typeface="Calibri"/>
              <a:buChar char="•"/>
            </a:pPr>
            <a:r>
              <a:rPr b="0" i="0" lang="en-US" spc="0" sz="1462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Pre-send check passes → push notification sent; every action is logged</a:t>
            </a:r>
            <a:endParaRPr b="0" i="0" spc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394935" y="1473647"/>
            <a:ext cx="3291900" cy="2791200"/>
          </a:xfrm>
          <a:prstGeom prst="roundRect">
            <a:avLst>
              <a:gd fmla="val 4324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5577815" y="1624524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NOTIFICATION PREVIEW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577815" y="2046975"/>
            <a:ext cx="2926200" cy="196140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5714975" y="2167677"/>
            <a:ext cx="26517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625"/>
              <a:buFont typeface="Calibri"/>
              <a:buNone/>
            </a:pPr>
            <a:r>
              <a:rPr b="1" i="0" lang="en-US" spc="0" sz="1625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Exclusive VivaMarket offer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5714975" y="2620305"/>
            <a:ext cx="26517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0" i="1" lang="en-US" spc="0" sz="1500" u="none" cap="none" strike="noStrike">
                <a:solidFill>
                  <a:srgbClr val="208040"/>
                </a:solidFill>
                <a:latin typeface="Calibri"/>
                <a:ea typeface="Calibri"/>
                <a:cs typeface="Calibri"/>
                <a:sym typeface="Calibri"/>
              </a:rPr>
              <a:t>We have a special offer for you! Use coupon [code] and get 20% off.</a:t>
            </a:r>
            <a:endParaRPr b="0" i="1" spc="0" sz="1200" u="none" cap="none" strike="noStrike">
              <a:solidFill>
                <a:srgbClr val="208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685775" y="1597413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EXAMPLE FROM THE DEMO WORKFLOW (n8n)</a:t>
            </a:r>
            <a:endParaRPr b="1" i="0" spc="100" sz="1000" u="none" cap="none" strike="noStrike">
              <a:solidFill>
                <a:srgbClr val="104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KPI-DRIVEN EXPERIMENTATION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457200" y="566928"/>
            <a:ext cx="6766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Retention actions are judged by KPI evidence — not by model confidence</a:t>
            </a:r>
            <a:endParaRPr b="1" i="0" spc="0" sz="2400" u="none" cap="none" strike="noStrike">
              <a:solidFill>
                <a:srgbClr val="005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457200" y="1417320"/>
            <a:ext cx="2834700" cy="292500"/>
          </a:xfrm>
          <a:prstGeom prst="roundRect">
            <a:avLst>
              <a:gd fmla="val 50000" name="adj"/>
            </a:avLst>
          </a:prstGeom>
          <a:solidFill>
            <a:srgbClr val="FFF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457200" y="1417320"/>
            <a:ext cx="283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C0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7A5C00"/>
                </a:solidFill>
                <a:latin typeface="Calibri"/>
                <a:ea typeface="Calibri"/>
                <a:cs typeface="Calibri"/>
                <a:sym typeface="Calibri"/>
              </a:rPr>
              <a:t>SYNTHETIC VALIDATION EVIDENCE</a:t>
            </a:r>
            <a:endParaRPr b="0" i="0" spc="0" sz="10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57200" y="1874520"/>
            <a:ext cx="1499700" cy="1371600"/>
          </a:xfrm>
          <a:prstGeom prst="roundRect">
            <a:avLst>
              <a:gd fmla="val 533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724137" y="2002536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pc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566928" y="2258568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Retention </a:t>
            </a:r>
            <a:b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pc="0" sz="14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566928" y="2752344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 concrete treatment to test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1956824" y="1874525"/>
            <a:ext cx="209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2139696" y="1874520"/>
            <a:ext cx="1499700" cy="1371600"/>
          </a:xfrm>
          <a:prstGeom prst="roundRect">
            <a:avLst>
              <a:gd fmla="val 533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2425128" y="2002536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PRIMARY KPI</a:t>
            </a:r>
            <a:endParaRPr b="0" i="0" spc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2249424" y="2258568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Outcome measure</a:t>
            </a:r>
            <a:endParaRPr b="0" i="0" spc="0" sz="14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2249424" y="2752344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Did it improve the target?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3639300" y="1874525"/>
            <a:ext cx="209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3822192" y="1874520"/>
            <a:ext cx="1499700" cy="1371600"/>
          </a:xfrm>
          <a:prstGeom prst="roundRect">
            <a:avLst>
              <a:gd fmla="val 533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4089129" y="2002536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endParaRPr b="0" i="0" spc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3931920" y="2258568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Side-effect control</a:t>
            </a:r>
            <a:endParaRPr b="0" i="0" spc="0" sz="14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3931920" y="2752344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No harmful trade-offs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5279578" y="1874525"/>
            <a:ext cx="267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504688" y="1874520"/>
            <a:ext cx="1499700" cy="1371600"/>
          </a:xfrm>
          <a:prstGeom prst="roundRect">
            <a:avLst>
              <a:gd fmla="val 533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5771625" y="2002536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 b="0" i="0" spc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5614416" y="2258568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Statistical </a:t>
            </a:r>
            <a:b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pc="0" sz="14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5614416" y="2752344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Weak signal is a valid result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6977752" y="1874525"/>
            <a:ext cx="209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7187184" y="1874520"/>
            <a:ext cx="1499700" cy="1371600"/>
          </a:xfrm>
          <a:prstGeom prst="roundRect">
            <a:avLst>
              <a:gd fmla="val 533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7454121" y="2002536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804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NEXT STEP</a:t>
            </a:r>
            <a:endParaRPr b="0" i="0" spc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7296912" y="2258568"/>
            <a:ext cx="128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Business recommendation</a:t>
            </a:r>
            <a:endParaRPr b="0" i="0" spc="0" sz="14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7296912" y="2752344"/>
            <a:ext cx="1280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Decision-ready for review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57200" y="3474720"/>
            <a:ext cx="2743200" cy="1097400"/>
          </a:xfrm>
          <a:prstGeom prst="roundRect">
            <a:avLst>
              <a:gd fmla="val 6667" name="adj"/>
            </a:avLst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640080" y="3547872"/>
            <a:ext cx="1097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pc="0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pc="0" sz="38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640080" y="411480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pc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synthetic known-ground-truth scenarios</a:t>
            </a:r>
            <a:endParaRPr b="0" i="0" spc="0" sz="12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383280" y="3474720"/>
            <a:ext cx="5303400" cy="10974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3566160" y="3754000"/>
            <a:ext cx="493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500"/>
              <a:buFont typeface="Calibri"/>
              <a:buNone/>
            </a:pPr>
            <a:r>
              <a:rPr b="1" i="0" lang="en-US" spc="0" sz="15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Test outcomes become evidence for future candidate actions.</a:t>
            </a:r>
            <a:endParaRPr b="0" i="0" spc="0" sz="15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3566160" y="4060350"/>
            <a:ext cx="4937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Guardrails stop a headline KPI from masking unacceptable side effects.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548329" y="2030486"/>
            <a:ext cx="109800" cy="109800"/>
          </a:xfrm>
          <a:prstGeom prst="ellipse">
            <a:avLst/>
          </a:prstGeom>
          <a:solidFill>
            <a:srgbClr val="005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2255579" y="2030486"/>
            <a:ext cx="109800" cy="109800"/>
          </a:xfrm>
          <a:prstGeom prst="ellipse">
            <a:avLst/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3922288" y="2030486"/>
            <a:ext cx="109800" cy="109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5611043" y="2030486"/>
            <a:ext cx="109800" cy="109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E0B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7272055" y="2030486"/>
            <a:ext cx="109800" cy="109800"/>
          </a:xfrm>
          <a:prstGeom prst="ellipse">
            <a:avLst/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"/>
          <p:cNvSpPr txBox="1"/>
          <p:nvPr>
            <p:ph type="title"/>
          </p:nvPr>
        </p:nvSpPr>
        <p:spPr>
          <a:xfrm>
            <a:off x="457200" y="566928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Example: a 1-hour cart email beats a 24-hour delay</a:t>
            </a:r>
            <a:endParaRPr sz="2400"/>
          </a:p>
        </p:txBody>
      </p:sp>
      <p:sp>
        <p:nvSpPr>
          <p:cNvPr id="325" name="Google Shape;325;p10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KPI-DRIVEN EXPERIMENTATION · EXAMPLE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457200" y="141732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EXAMPLE · CAMPAIGN DETAIL FROM THE DASHBOARD (SYNTHETIC DATA)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438912" y="1719072"/>
            <a:ext cx="8266175" cy="13395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/shot_campaign.png" id="328" name="Google Shape;3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37360"/>
            <a:ext cx="8229600" cy="130302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0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75"/>
              <a:buFont typeface="Calibri"/>
              <a:buNone/>
            </a:pPr>
            <a:r>
              <a:rPr b="1" i="0" lang="en-US" spc="0" sz="1375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Sending the abandoned-cart email 1 hour after instead of 24 hours after raised cart recovery by +1.7%, with no guardrail risks detected.</a:t>
            </a:r>
            <a:endParaRPr b="0" i="0" spc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457200" y="3794760"/>
            <a:ext cx="2651760" cy="777240"/>
          </a:xfrm>
          <a:prstGeom prst="roundRect">
            <a:avLst>
              <a:gd fmla="val 8000" name="adj"/>
            </a:avLst>
          </a:prstGeom>
          <a:solidFill>
            <a:srgbClr val="1040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594360" y="3886200"/>
            <a:ext cx="2377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KPI</a:t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594360" y="4123944"/>
            <a:ext cx="237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 recovery +1.7%</a:t>
            </a:r>
            <a:endParaRPr b="0" i="0" spc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3246120" y="3794760"/>
            <a:ext cx="2651760" cy="777240"/>
          </a:xfrm>
          <a:prstGeom prst="roundRect">
            <a:avLst>
              <a:gd fmla="val 8000" name="adj"/>
            </a:avLst>
          </a:prstGeom>
          <a:solidFill>
            <a:srgbClr val="E3F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 txBox="1"/>
          <p:nvPr/>
        </p:nvSpPr>
        <p:spPr>
          <a:xfrm>
            <a:off x="3383279" y="388620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3383279" y="4123944"/>
            <a:ext cx="23774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rgbClr val="208040"/>
                </a:solidFill>
                <a:latin typeface="Calibri"/>
                <a:ea typeface="Calibri"/>
                <a:cs typeface="Calibri"/>
                <a:sym typeface="Calibri"/>
              </a:rPr>
              <a:t>No risks detected</a:t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035040" y="3794760"/>
            <a:ext cx="2651760" cy="777240"/>
          </a:xfrm>
          <a:prstGeom prst="roundRect">
            <a:avLst>
              <a:gd fmla="val 8000" name="adj"/>
            </a:avLst>
          </a:prstGeom>
          <a:solidFill>
            <a:srgbClr val="208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pc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6172200" y="3886200"/>
            <a:ext cx="2377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pc="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6172200" y="4123944"/>
            <a:ext cx="237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pc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 proposal wins</a:t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401725" y="1644950"/>
            <a:ext cx="105600" cy="1555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00" lIns="91300" spcFirstLastPara="1" rIns="91300" wrap="square" tIns="9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8"/>
              <a:buFont typeface="Arial"/>
              <a:buNone/>
            </a:pPr>
            <a:r>
              <a:t/>
            </a:r>
            <a:endParaRPr b="0" i="0" spc="0" sz="13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8627245" y="1486196"/>
            <a:ext cx="159000" cy="157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00" lIns="91300" spcFirstLastPara="1" rIns="91300" wrap="square" tIns="9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8"/>
              <a:buFont typeface="Arial"/>
              <a:buNone/>
            </a:pPr>
            <a:r>
              <a:t/>
            </a:r>
            <a:endParaRPr b="0" i="0" spc="0" sz="13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456450" y="3016630"/>
            <a:ext cx="8229600" cy="8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00" lIns="91300" spcFirstLastPara="1" rIns="91300" wrap="square" tIns="9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8"/>
              <a:buFont typeface="Arial"/>
              <a:buNone/>
            </a:pPr>
            <a:r>
              <a:t/>
            </a:r>
            <a:endParaRPr b="0" i="0" spc="0" sz="13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608850" y="1698666"/>
            <a:ext cx="8229600" cy="8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00" lIns="91300" spcFirstLastPara="1" rIns="91300" wrap="square" tIns="9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8"/>
              <a:buFont typeface="Arial"/>
              <a:buNone/>
            </a:pPr>
            <a:r>
              <a:t/>
            </a:r>
            <a:endParaRPr b="0" i="0" spc="0" sz="13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502920" y="2587752"/>
            <a:ext cx="8138160" cy="429768"/>
          </a:xfrm>
          <a:prstGeom prst="roundRect">
            <a:avLst>
              <a:gd fmla="val 10000" name="adj"/>
            </a:avLst>
          </a:prstGeom>
          <a:noFill/>
          <a:ln cap="flat" cmpd="sng" w="25400">
            <a:solidFill>
              <a:srgbClr val="208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KPI EVIDENCE TO BUSINESS DECISION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457200" y="566928"/>
            <a:ext cx="6766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pc="0" sz="24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KPI evidence becomes a controlled business decision</a:t>
            </a:r>
            <a:endParaRPr b="1" i="0" spc="0" sz="2400" u="none" cap="none" strike="noStrike">
              <a:solidFill>
                <a:srgbClr val="005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457200" y="10972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b="0" i="0" lang="en-US" spc="0" sz="14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 human business approver controls consequential writes before and after testing.</a:t>
            </a:r>
            <a:endParaRPr b="0" i="0" spc="0" sz="14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457475" y="1600200"/>
            <a:ext cx="1219200" cy="1691700"/>
          </a:xfrm>
          <a:prstGeom prst="roundRect">
            <a:avLst>
              <a:gd fmla="val 6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724137" y="1728216"/>
            <a:ext cx="99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TESTED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566928" y="1984248"/>
            <a:ext cx="99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pc="0" sz="13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 txBox="1"/>
          <p:nvPr/>
        </p:nvSpPr>
        <p:spPr>
          <a:xfrm>
            <a:off x="566928" y="2295144"/>
            <a:ext cx="9996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Candidate already measured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1676400" y="1600200"/>
            <a:ext cx="1830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1859555" y="1600200"/>
            <a:ext cx="1219200" cy="1691700"/>
          </a:xfrm>
          <a:prstGeom prst="roundRect">
            <a:avLst>
              <a:gd fmla="val 6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2126217" y="1728216"/>
            <a:ext cx="99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KPI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1969008" y="1984248"/>
            <a:ext cx="99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pc="0" sz="13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1969008" y="2295144"/>
            <a:ext cx="9996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Outcome signal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 txBox="1"/>
          <p:nvPr/>
        </p:nvSpPr>
        <p:spPr>
          <a:xfrm>
            <a:off x="3078476" y="1600200"/>
            <a:ext cx="1830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3261635" y="1600200"/>
            <a:ext cx="1219200" cy="1691700"/>
          </a:xfrm>
          <a:prstGeom prst="roundRect">
            <a:avLst>
              <a:gd fmla="val 6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3528297" y="1728216"/>
            <a:ext cx="99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GUARDRAIL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 txBox="1"/>
          <p:nvPr/>
        </p:nvSpPr>
        <p:spPr>
          <a:xfrm>
            <a:off x="3371088" y="1984248"/>
            <a:ext cx="99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pc="0" sz="13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3371088" y="2295144"/>
            <a:ext cx="9996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Safety / trade-off check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 txBox="1"/>
          <p:nvPr/>
        </p:nvSpPr>
        <p:spPr>
          <a:xfrm>
            <a:off x="4480554" y="1600200"/>
            <a:ext cx="1830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4663715" y="1600200"/>
            <a:ext cx="1219200" cy="1691700"/>
          </a:xfrm>
          <a:prstGeom prst="roundRect">
            <a:avLst>
              <a:gd fmla="val 6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4930377" y="1728216"/>
            <a:ext cx="99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 txBox="1"/>
          <p:nvPr/>
        </p:nvSpPr>
        <p:spPr>
          <a:xfrm>
            <a:off x="4773168" y="1984248"/>
            <a:ext cx="99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Statistical decision</a:t>
            </a:r>
            <a:endParaRPr b="0" i="0" spc="0" sz="13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 txBox="1"/>
          <p:nvPr/>
        </p:nvSpPr>
        <p:spPr>
          <a:xfrm>
            <a:off x="4773168" y="2478024"/>
            <a:ext cx="9996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Evidence quality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 txBox="1"/>
          <p:nvPr/>
        </p:nvSpPr>
        <p:spPr>
          <a:xfrm>
            <a:off x="5882646" y="1600200"/>
            <a:ext cx="1830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6065520" y="1600200"/>
            <a:ext cx="1219200" cy="1691700"/>
          </a:xfrm>
          <a:prstGeom prst="roundRect">
            <a:avLst>
              <a:gd fmla="val 6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 txBox="1"/>
          <p:nvPr/>
        </p:nvSpPr>
        <p:spPr>
          <a:xfrm>
            <a:off x="6332732" y="1728216"/>
            <a:ext cx="99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 txBox="1"/>
          <p:nvPr/>
        </p:nvSpPr>
        <p:spPr>
          <a:xfrm>
            <a:off x="6175248" y="1984248"/>
            <a:ext cx="99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Business choice</a:t>
            </a:r>
            <a:endParaRPr b="0" i="0" spc="0" sz="13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6175248" y="2478024"/>
            <a:ext cx="9996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Decision support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 txBox="1"/>
          <p:nvPr/>
        </p:nvSpPr>
        <p:spPr>
          <a:xfrm>
            <a:off x="7284723" y="1600200"/>
            <a:ext cx="1830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7467600" y="1600200"/>
            <a:ext cx="1219200" cy="1691700"/>
          </a:xfrm>
          <a:prstGeom prst="roundRect">
            <a:avLst>
              <a:gd fmla="val 6000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7734537" y="1728216"/>
            <a:ext cx="99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8040"/>
              </a:buClr>
              <a:buSzPts val="1000"/>
              <a:buFont typeface="Calibri"/>
              <a:buNone/>
            </a:pPr>
            <a:r>
              <a:rPr b="1" i="0" lang="en-US" spc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7577328" y="1984248"/>
            <a:ext cx="99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Accept / Reject</a:t>
            </a:r>
            <a:endParaRPr b="0" i="0" spc="0" sz="13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7577328" y="2752344"/>
            <a:ext cx="9996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pc="0" sz="11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Traceable human decision</a:t>
            </a:r>
            <a:endParaRPr b="0" i="0" spc="0" sz="11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57200" y="3474720"/>
            <a:ext cx="4023300" cy="1097400"/>
          </a:xfrm>
          <a:prstGeom prst="roundRect">
            <a:avLst>
              <a:gd fmla="val 6667" name="adj"/>
            </a:avLst>
          </a:prstGeom>
          <a:solidFill>
            <a:srgbClr val="104070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640075" y="3767449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Governance makes the decision traceable.</a:t>
            </a:r>
            <a:endParaRPr b="0" i="0" spc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640075" y="4087057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200"/>
              <a:buFont typeface="Calibri"/>
              <a:buNone/>
            </a:pPr>
            <a:r>
              <a:rPr b="0" i="0" lang="en-US" spc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KPI status, guardrails and decision history stay visible.</a:t>
            </a:r>
            <a:endParaRPr b="0" i="0" spc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663440" y="3474720"/>
            <a:ext cx="4023300" cy="1097400"/>
          </a:xfrm>
          <a:prstGeom prst="roundRect">
            <a:avLst>
              <a:gd fmla="val 6667" name="adj"/>
            </a:avLst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4846320" y="3474720"/>
            <a:ext cx="3657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 + history become learning input for REACT.</a:t>
            </a:r>
            <a:endParaRPr b="0" i="0" spc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548329" y="1762306"/>
            <a:ext cx="109800" cy="109800"/>
          </a:xfrm>
          <a:prstGeom prst="ellipse">
            <a:avLst/>
          </a:prstGeom>
          <a:solidFill>
            <a:srgbClr val="005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1950409" y="1762306"/>
            <a:ext cx="109800" cy="109800"/>
          </a:xfrm>
          <a:prstGeom prst="ellipse">
            <a:avLst/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3352489" y="1762306"/>
            <a:ext cx="109800" cy="109800"/>
          </a:xfrm>
          <a:prstGeom prst="ellipse">
            <a:avLst/>
          </a:prstGeom>
          <a:solidFill>
            <a:srgbClr val="E0B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4754569" y="1762306"/>
            <a:ext cx="109800" cy="109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6156649" y="1762306"/>
            <a:ext cx="109800" cy="109800"/>
          </a:xfrm>
          <a:prstGeom prst="ellipse">
            <a:avLst/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7558729" y="1762306"/>
            <a:ext cx="109800" cy="109800"/>
          </a:xfrm>
          <a:prstGeom prst="ellipse">
            <a:avLst/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"/>
          <p:cNvSpPr txBox="1"/>
          <p:nvPr>
            <p:ph type="title"/>
          </p:nvPr>
        </p:nvSpPr>
        <p:spPr>
          <a:xfrm>
            <a:off x="457200" y="566928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Example: two winning proposals await approval</a:t>
            </a:r>
            <a:endParaRPr sz="2400"/>
          </a:p>
        </p:txBody>
      </p:sp>
      <p:sp>
        <p:nvSpPr>
          <p:cNvPr id="399" name="Google Shape;399;p12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KPI EVIDENCE TO BUSINESS DECISION · EXAMPLE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 txBox="1"/>
          <p:nvPr/>
        </p:nvSpPr>
        <p:spPr>
          <a:xfrm>
            <a:off x="457200" y="1260120"/>
            <a:ext cx="731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EXAMPLE · TESTED ACTIONS APPROVAL (SYNTHETIC DATA)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/shot_tested.png" id="401" name="Google Shape;40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34440"/>
            <a:ext cx="8229600" cy="213969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2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457210" y="1644950"/>
            <a:ext cx="105600" cy="223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00" lIns="91300" spcFirstLastPara="1" rIns="91300" wrap="square" tIns="9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8"/>
              <a:buFont typeface="Arial"/>
              <a:buNone/>
            </a:pPr>
            <a:r>
              <a:t/>
            </a:r>
            <a:endParaRPr b="0" i="0" spc="0" sz="13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8627260" y="1486188"/>
            <a:ext cx="105600" cy="223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00" lIns="91300" spcFirstLastPara="1" rIns="91300" wrap="square" tIns="9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8"/>
              <a:buFont typeface="Arial"/>
              <a:buNone/>
            </a:pPr>
            <a:r>
              <a:t/>
            </a:r>
            <a:endParaRPr b="0" i="0" spc="0" sz="13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456450" y="3626975"/>
            <a:ext cx="8229600" cy="20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00" lIns="91300" spcFirstLastPara="1" rIns="91300" wrap="square" tIns="9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8"/>
              <a:buFont typeface="Arial"/>
              <a:buNone/>
            </a:pPr>
            <a:r>
              <a:t/>
            </a:r>
            <a:endParaRPr b="0" i="0" spc="0" sz="13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481975" y="3913150"/>
            <a:ext cx="8198100" cy="651000"/>
          </a:xfrm>
          <a:prstGeom prst="roundRect">
            <a:avLst>
              <a:gd fmla="val 6667" name="adj"/>
            </a:avLst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 txBox="1"/>
          <p:nvPr/>
        </p:nvSpPr>
        <p:spPr>
          <a:xfrm>
            <a:off x="651824" y="4010050"/>
            <a:ext cx="793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75"/>
              <a:buFont typeface="Calibri"/>
              <a:buNone/>
            </a:pPr>
            <a:r>
              <a:rPr b="1" i="0" lang="en-US" spc="0" sz="1275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Two winning proposals wait for a human business approver. </a:t>
            </a:r>
            <a:r>
              <a:rPr b="1" lang="en-US" sz="12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1" lang="en-US" sz="127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pc="0" sz="1275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Each decision is recorded and becomes learning input for REACT.</a:t>
            </a:r>
            <a:endParaRPr b="0" i="0" spc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"/>
          <p:cNvSpPr txBox="1"/>
          <p:nvPr>
            <p:ph type="title"/>
          </p:nvPr>
        </p:nvSpPr>
        <p:spPr>
          <a:xfrm>
            <a:off x="457200" y="566928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REACT: turn evidence into the next actions to test</a:t>
            </a:r>
            <a:endParaRPr sz="2400"/>
          </a:p>
        </p:txBody>
      </p:sp>
      <p:sp>
        <p:nvSpPr>
          <p:cNvPr id="414" name="Google Shape;414;p13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REACT: THE DIFFERENTIATING CAPABILITY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35"/>
              </a:buClr>
              <a:buSzPts val="1500"/>
              <a:buFont typeface="Calibri"/>
              <a:buNone/>
            </a:pPr>
            <a:r>
              <a:rPr b="1" i="1" lang="en-US" spc="0" sz="1500" u="none" cap="none" strike="noStrike">
                <a:solidFill>
                  <a:srgbClr val="1A6B35"/>
                </a:solidFill>
                <a:latin typeface="Calibri"/>
                <a:ea typeface="Calibri"/>
                <a:cs typeface="Calibri"/>
                <a:sym typeface="Calibri"/>
              </a:rPr>
              <a:t>Learn from what we tested. Ground what to try next.</a:t>
            </a:r>
            <a:endParaRPr b="0" i="0" spc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57200" y="1783080"/>
            <a:ext cx="3886200" cy="1005840"/>
          </a:xfrm>
          <a:prstGeom prst="roundRect">
            <a:avLst>
              <a:gd fmla="val 727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594360" y="1938217"/>
            <a:ext cx="109800" cy="109800"/>
          </a:xfrm>
          <a:prstGeom prst="ellipse">
            <a:avLst/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3"/>
          <p:cNvSpPr txBox="1"/>
          <p:nvPr/>
        </p:nvSpPr>
        <p:spPr>
          <a:xfrm>
            <a:off x="768096" y="191109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INTERNAL EVIDENCE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 txBox="1"/>
          <p:nvPr/>
        </p:nvSpPr>
        <p:spPr>
          <a:xfrm>
            <a:off x="640080" y="219456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Completed experiments, decisions and accumulated learning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4800600" y="1783080"/>
            <a:ext cx="3886200" cy="1005840"/>
          </a:xfrm>
          <a:prstGeom prst="roundRect">
            <a:avLst>
              <a:gd fmla="val 7273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4937760" y="1938217"/>
            <a:ext cx="109800" cy="109800"/>
          </a:xfrm>
          <a:prstGeom prst="ellipse">
            <a:avLst/>
          </a:prstGeom>
          <a:solidFill>
            <a:srgbClr val="005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5111496" y="191109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TRUSTED EXTERNAL SOURCES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 txBox="1"/>
          <p:nvPr/>
        </p:nvSpPr>
        <p:spPr>
          <a:xfrm>
            <a:off x="4983480" y="219456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pc="0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Grounded external knowledge used to identify new candidate actions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 txBox="1"/>
          <p:nvPr/>
        </p:nvSpPr>
        <p:spPr>
          <a:xfrm>
            <a:off x="4343400" y="1783080"/>
            <a:ext cx="457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C00"/>
              </a:buClr>
              <a:buSzPts val="2600"/>
              <a:buFont typeface="Calibri"/>
              <a:buNone/>
            </a:pPr>
            <a:r>
              <a:rPr b="1" i="0" lang="en-US" spc="0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pc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457200" y="2926080"/>
            <a:ext cx="8229600" cy="411480"/>
          </a:xfrm>
          <a:prstGeom prst="roundRect">
            <a:avLst>
              <a:gd fmla="val 17778" name="adj"/>
            </a:avLst>
          </a:prstGeom>
          <a:solidFill>
            <a:srgbClr val="005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3"/>
          <p:cNvSpPr txBox="1"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pc="20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CANDIDATE ACTIONS</a:t>
            </a:r>
            <a:endParaRPr b="0" i="0" spc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457200" y="3520440"/>
            <a:ext cx="1851660" cy="502920"/>
          </a:xfrm>
          <a:prstGeom prst="roundRect">
            <a:avLst>
              <a:gd fmla="val 14545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 txBox="1"/>
          <p:nvPr/>
        </p:nvSpPr>
        <p:spPr>
          <a:xfrm>
            <a:off x="457200" y="3520440"/>
            <a:ext cx="18516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070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Human review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2308860" y="352044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2583180" y="3520440"/>
            <a:ext cx="1851660" cy="502920"/>
          </a:xfrm>
          <a:prstGeom prst="roundRect">
            <a:avLst>
              <a:gd fmla="val 14545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3"/>
          <p:cNvSpPr txBox="1"/>
          <p:nvPr/>
        </p:nvSpPr>
        <p:spPr>
          <a:xfrm>
            <a:off x="2583180" y="3520440"/>
            <a:ext cx="18516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070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Experiment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 txBox="1"/>
          <p:nvPr/>
        </p:nvSpPr>
        <p:spPr>
          <a:xfrm>
            <a:off x="4434840" y="352044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4709160" y="3520440"/>
            <a:ext cx="1851660" cy="502920"/>
          </a:xfrm>
          <a:prstGeom prst="roundRect">
            <a:avLst>
              <a:gd fmla="val 14545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 txBox="1"/>
          <p:nvPr/>
        </p:nvSpPr>
        <p:spPr>
          <a:xfrm>
            <a:off x="4709160" y="3520440"/>
            <a:ext cx="18516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4070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104070"/>
                </a:solidFill>
                <a:latin typeface="Calibri"/>
                <a:ea typeface="Calibri"/>
                <a:cs typeface="Calibri"/>
                <a:sym typeface="Calibri"/>
              </a:rPr>
              <a:t>Decision &amp; history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 txBox="1"/>
          <p:nvPr/>
        </p:nvSpPr>
        <p:spPr>
          <a:xfrm>
            <a:off x="6560820" y="352044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600"/>
              <a:buFont typeface="Calibri"/>
              <a:buNone/>
            </a:pPr>
            <a:r>
              <a:rPr b="1" i="0" lang="en-US" spc="0" sz="1600" u="none" cap="none" strike="noStrike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pc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6835140" y="3520440"/>
            <a:ext cx="1851660" cy="502920"/>
          </a:xfrm>
          <a:prstGeom prst="roundRect">
            <a:avLst>
              <a:gd fmla="val 14545" name="adj"/>
            </a:avLst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3"/>
          <p:cNvSpPr txBox="1"/>
          <p:nvPr/>
        </p:nvSpPr>
        <p:spPr>
          <a:xfrm>
            <a:off x="6835140" y="3520440"/>
            <a:ext cx="18516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REACT cycle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fmla="val 16000" name="adj"/>
            </a:avLst>
          </a:prstGeom>
          <a:solidFill>
            <a:srgbClr val="FFF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3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C00"/>
              </a:buClr>
              <a:buSzPts val="1200"/>
              <a:buFont typeface="Calibri"/>
              <a:buNone/>
            </a:pPr>
            <a:r>
              <a:rPr b="1" i="0" lang="en-US" spc="0" sz="1200" u="none" cap="none" strike="noStrike">
                <a:solidFill>
                  <a:srgbClr val="7A5C00"/>
                </a:solidFill>
                <a:latin typeface="Calibri"/>
                <a:ea typeface="Calibri"/>
                <a:cs typeface="Calibri"/>
                <a:sym typeface="Calibri"/>
              </a:rPr>
              <a:t>Candidate-action generation is evidence-backed and governed; real-customer uplift remains to be validated.</a:t>
            </a:r>
            <a:endParaRPr b="0" i="0" spc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"/>
          <p:cNvSpPr txBox="1"/>
          <p:nvPr>
            <p:ph type="title"/>
          </p:nvPr>
        </p:nvSpPr>
        <p:spPr>
          <a:xfrm>
            <a:off x="457200" y="566928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REACT in practice: a sourced candidate action waits for human review</a:t>
            </a:r>
            <a:endParaRPr sz="2400"/>
          </a:p>
        </p:txBody>
      </p:sp>
      <p:sp>
        <p:nvSpPr>
          <p:cNvPr id="447" name="Google Shape;447;p14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REACT EXAMPLE · NEW ACTIONS APPROVAL (SYNTHETIC CASE STUDY)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/shot_new.png" id="448" name="Google Shape;4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473147"/>
            <a:ext cx="6949438" cy="1966822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4"/>
          <p:cNvSpPr/>
          <p:nvPr/>
        </p:nvSpPr>
        <p:spPr>
          <a:xfrm>
            <a:off x="457200" y="3612743"/>
            <a:ext cx="2560320" cy="959257"/>
          </a:xfrm>
          <a:prstGeom prst="roundRect">
            <a:avLst>
              <a:gd fmla="val 762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585216" y="3725542"/>
            <a:ext cx="109800" cy="109800"/>
          </a:xfrm>
          <a:prstGeom prst="ellipse">
            <a:avLst/>
          </a:prstGeom>
          <a:solidFill>
            <a:srgbClr val="1040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768096" y="3713327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 txBox="1"/>
          <p:nvPr/>
        </p:nvSpPr>
        <p:spPr>
          <a:xfrm>
            <a:off x="585216" y="3978503"/>
            <a:ext cx="2304288" cy="54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b="1" i="0" lang="en-US" spc="0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Sourced from the Baymard Institute</a:t>
            </a:r>
            <a:endParaRPr b="0" i="0" spc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3291840" y="3612743"/>
            <a:ext cx="2560320" cy="959257"/>
          </a:xfrm>
          <a:prstGeom prst="roundRect">
            <a:avLst>
              <a:gd fmla="val 762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3419856" y="3732650"/>
            <a:ext cx="109800" cy="109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4"/>
          <p:cNvSpPr txBox="1"/>
          <p:nvPr/>
        </p:nvSpPr>
        <p:spPr>
          <a:xfrm>
            <a:off x="3602736" y="3713327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CANDIDATE ACTION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 txBox="1"/>
          <p:nvPr/>
        </p:nvSpPr>
        <p:spPr>
          <a:xfrm>
            <a:off x="3419856" y="3978503"/>
            <a:ext cx="2304288" cy="54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b="1" i="0" lang="en-US" spc="0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10% exit-intent popup, only on high-abandonment sessions</a:t>
            </a:r>
            <a:endParaRPr b="0" i="0" spc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6126480" y="3612743"/>
            <a:ext cx="2560320" cy="959257"/>
          </a:xfrm>
          <a:prstGeom prst="roundRect">
            <a:avLst>
              <a:gd fmla="val 762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6254496" y="3732650"/>
            <a:ext cx="109800" cy="109800"/>
          </a:xfrm>
          <a:prstGeom prst="ellipse">
            <a:avLst/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4"/>
          <p:cNvSpPr txBox="1"/>
          <p:nvPr/>
        </p:nvSpPr>
        <p:spPr>
          <a:xfrm>
            <a:off x="6437376" y="3713327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HUMAN REVIEW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 txBox="1"/>
          <p:nvPr/>
        </p:nvSpPr>
        <p:spPr>
          <a:xfrm>
            <a:off x="6254496" y="3978503"/>
            <a:ext cx="2304288" cy="54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b="1" i="0" lang="en-US" spc="0" sz="12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Approve for test · Postpone · Reject</a:t>
            </a:r>
            <a:endParaRPr b="0" i="0" spc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8011071" y="1339777"/>
            <a:ext cx="35700" cy="223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00" lIns="91300" spcFirstLastPara="1" rIns="91300" wrap="square" tIns="9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8"/>
              <a:buFont typeface="Arial"/>
              <a:buNone/>
            </a:pPr>
            <a:r>
              <a:t/>
            </a:r>
            <a:endParaRPr b="0" i="0" spc="0" sz="13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1097350" y="3408240"/>
            <a:ext cx="7110900" cy="10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1097346" y="1281852"/>
            <a:ext cx="35700" cy="2236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00" lIns="91300" spcFirstLastPara="1" rIns="91300" wrap="square" tIns="91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8"/>
              <a:buFont typeface="Arial"/>
              <a:buNone/>
            </a:pPr>
            <a:r>
              <a:t/>
            </a:r>
            <a:endParaRPr b="0" i="0" spc="0" sz="13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5"/>
          <p:cNvSpPr txBox="1"/>
          <p:nvPr>
            <p:ph type="title"/>
          </p:nvPr>
        </p:nvSpPr>
        <p:spPr>
          <a:xfrm>
            <a:off x="457200" y="566928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What VivaMarket demonstrates — and what requires further validation</a:t>
            </a:r>
            <a:endParaRPr sz="2400"/>
          </a:p>
        </p:txBody>
      </p:sp>
      <p:sp>
        <p:nvSpPr>
          <p:cNvPr id="471" name="Google Shape;471;p15"/>
          <p:cNvSpPr txBox="1"/>
          <p:nvPr/>
        </p:nvSpPr>
        <p:spPr>
          <a:xfrm>
            <a:off x="457200" y="329184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2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BUSINESS CAPABILITY + EVIDENCE BOUNDARY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457200" y="1417320"/>
            <a:ext cx="4023360" cy="2148840"/>
          </a:xfrm>
          <a:prstGeom prst="roundRect">
            <a:avLst>
              <a:gd fmla="val 3404" name="adj"/>
            </a:avLst>
          </a:prstGeom>
          <a:solidFill>
            <a:srgbClr val="208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5"/>
          <p:cNvSpPr txBox="1"/>
          <p:nvPr/>
        </p:nvSpPr>
        <p:spPr>
          <a:xfrm>
            <a:off x="640080" y="152704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35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DEMONSTRATED BUSINESS CAPABILITY</a:t>
            </a:r>
            <a:endParaRPr b="0" i="0" spc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 txBox="1"/>
          <p:nvPr/>
        </p:nvSpPr>
        <p:spPr>
          <a:xfrm>
            <a:off x="640080" y="1810512"/>
            <a:ext cx="365760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0" i="0" lang="en-US" spc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Prioritize and explain risk</a:t>
            </a:r>
            <a:endParaRPr b="0" i="0" spc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0" i="0" lang="en-US" spc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Recommend retention actions</a:t>
            </a:r>
            <a:endParaRPr b="0" i="0" spc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0" i="0" lang="en-US" spc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Evaluate via KPI + guardrails</a:t>
            </a:r>
            <a:endParaRPr b="0" i="0" spc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0" i="0" lang="en-US" spc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 evidence into governed decisions</a:t>
            </a:r>
            <a:endParaRPr b="0" i="0" spc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0" i="0" lang="en-US" spc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Propose evidence-backed next actions</a:t>
            </a:r>
            <a:endParaRPr b="0" i="0" spc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0" i="0" lang="en-US" spc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Preserve history for continued learning</a:t>
            </a:r>
            <a:endParaRPr b="0" i="0" spc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4663440" y="1417320"/>
            <a:ext cx="4023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5"/>
          <p:cNvSpPr txBox="1"/>
          <p:nvPr/>
        </p:nvSpPr>
        <p:spPr>
          <a:xfrm>
            <a:off x="4846320" y="152704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005090"/>
                </a:solidFill>
                <a:latin typeface="Calibri"/>
                <a:ea typeface="Calibri"/>
                <a:cs typeface="Calibri"/>
                <a:sym typeface="Calibri"/>
              </a:rPr>
              <a:t>REQUIRES REAL-WORLD VALIDATION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 txBox="1"/>
          <p:nvPr/>
        </p:nvSpPr>
        <p:spPr>
          <a:xfrm>
            <a:off x="4846320" y="1810512"/>
            <a:ext cx="3657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b="0" i="0" lang="en-US" spc="0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Observed real-customer causal uplift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b="0" i="0" lang="en-US" spc="0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Production retention ROI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b="0" i="0" lang="en-US" spc="0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Enterprise-scale production operations</a:t>
            </a:r>
            <a:endParaRPr b="0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4663440" y="2971800"/>
            <a:ext cx="4023360" cy="594360"/>
          </a:xfrm>
          <a:prstGeom prst="roundRect">
            <a:avLst>
              <a:gd fmla="val 12308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5"/>
          <p:cNvSpPr txBox="1"/>
          <p:nvPr/>
        </p:nvSpPr>
        <p:spPr>
          <a:xfrm>
            <a:off x="4846320" y="30266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NOT IMPLEMENTED IN CURRENT SCOPE</a:t>
            </a:r>
            <a:endParaRPr b="0" i="0" spc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 txBox="1"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pc="0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Incremental-response / uplift modeling</a:t>
            </a:r>
            <a:endParaRPr b="1" i="0" spc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 txBox="1"/>
          <p:nvPr>
            <p:ph idx="4294967295" type="sldNum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lang="en-US" sz="100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rgbClr val="5B66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457200" y="3703320"/>
            <a:ext cx="8229600" cy="868800"/>
          </a:xfrm>
          <a:prstGeom prst="roundRect">
            <a:avLst>
              <a:gd fmla="val 8421" name="adj"/>
            </a:avLst>
          </a:prstGeom>
          <a:solidFill>
            <a:srgbClr val="104070"/>
          </a:solidFill>
          <a:ln cap="flat" cmpd="sng" w="9525">
            <a:solidFill>
              <a:srgbClr val="D5D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5"/>
          <p:cNvSpPr txBox="1"/>
          <p:nvPr/>
        </p:nvSpPr>
        <p:spPr>
          <a:xfrm>
            <a:off x="640080" y="3785616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0"/>
              </a:buClr>
              <a:buSzPts val="1000"/>
              <a:buFont typeface="Calibri"/>
              <a:buNone/>
            </a:pPr>
            <a:r>
              <a:rPr b="1" i="0" lang="en-US" spc="100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PRODUCTION ENHANCEMENT</a:t>
            </a:r>
            <a:endParaRPr b="0" i="0" spc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 txBox="1"/>
          <p:nvPr/>
        </p:nvSpPr>
        <p:spPr>
          <a:xfrm>
            <a:off x="640080" y="4023360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pc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portfolio uses validated free-access sources. Production can connect paid research / search APIs to broaden coverage, freshness and retrieval capacity.</a:t>
            </a:r>
            <a:endParaRPr b="0" i="0" spc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vaMarket Brasil">
  <a:themeElements>
    <a:clrScheme name="VivaMarket Brasil">
      <a:dk1>
        <a:srgbClr val="1F2937"/>
      </a:dk1>
      <a:lt1>
        <a:srgbClr val="FFFFFF"/>
      </a:lt1>
      <a:dk2>
        <a:srgbClr val="104070"/>
      </a:dk2>
      <a:lt2>
        <a:srgbClr val="F0F0F0"/>
      </a:lt2>
      <a:accent1>
        <a:srgbClr val="005090"/>
      </a:accent1>
      <a:accent2>
        <a:srgbClr val="208040"/>
      </a:accent2>
      <a:accent3>
        <a:srgbClr val="E0B000"/>
      </a:accent3>
      <a:accent4>
        <a:srgbClr val="C01010"/>
      </a:accent4>
      <a:accent5>
        <a:srgbClr val="104070"/>
      </a:accent5>
      <a:accent6>
        <a:srgbClr val="60A060"/>
      </a:accent6>
      <a:hlink>
        <a:srgbClr val="005090"/>
      </a:hlink>
      <a:folHlink>
        <a:srgbClr val="1040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vaMarket Brasil">
  <a:themeElements>
    <a:clrScheme name="VivaMarket Brasil">
      <a:dk1>
        <a:srgbClr val="1F2937"/>
      </a:dk1>
      <a:lt1>
        <a:srgbClr val="FFFFFF"/>
      </a:lt1>
      <a:dk2>
        <a:srgbClr val="104070"/>
      </a:dk2>
      <a:lt2>
        <a:srgbClr val="F0F0F0"/>
      </a:lt2>
      <a:accent1>
        <a:srgbClr val="005090"/>
      </a:accent1>
      <a:accent2>
        <a:srgbClr val="208040"/>
      </a:accent2>
      <a:accent3>
        <a:srgbClr val="E0B000"/>
      </a:accent3>
      <a:accent4>
        <a:srgbClr val="C01010"/>
      </a:accent4>
      <a:accent5>
        <a:srgbClr val="104070"/>
      </a:accent5>
      <a:accent6>
        <a:srgbClr val="60A060"/>
      </a:accent6>
      <a:hlink>
        <a:srgbClr val="005090"/>
      </a:hlink>
      <a:folHlink>
        <a:srgbClr val="1040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2026-10-08T20:29:14Z</dcterms:created>
  <dc:creator>PptxGenJS</dc:creator>
</cp:coreProperties>
</file>